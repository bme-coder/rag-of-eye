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Lato"/>
      <p:regular r:id="rId15"/>
      <p:bold r:id="rId16"/>
      <p:italic r:id="rId17"/>
      <p:boldItalic r:id="rId18"/>
    </p:embeddedFont>
    <p:embeddedFont>
      <p:font typeface="Noto Sans SC"/>
      <p:regular r:id="rId19"/>
      <p:bold r:id="rId20"/>
    </p:embeddedFont>
    <p:embeddedFont>
      <p:font typeface="Merriweath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SC-bold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.fntdata"/><Relationship Id="rId10" Type="http://schemas.openxmlformats.org/officeDocument/2006/relationships/slide" Target="slides/slide5.xml"/><Relationship Id="rId21" Type="http://schemas.openxmlformats.org/officeDocument/2006/relationships/font" Target="fonts/Merriweather-regular.fntdata"/><Relationship Id="rId13" Type="http://schemas.openxmlformats.org/officeDocument/2006/relationships/slide" Target="slides/slide8.xml"/><Relationship Id="rId24" Type="http://schemas.openxmlformats.org/officeDocument/2006/relationships/font" Target="fonts/Merriweather-boldItalic.fntdata"/><Relationship Id="rId12" Type="http://schemas.openxmlformats.org/officeDocument/2006/relationships/slide" Target="slides/slide7.xml"/><Relationship Id="rId23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slide" Target="slides/slide9.xml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SC-regular.fntdata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3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11" Type="http://schemas.openxmlformats.org/officeDocument/2006/relationships/image" Target="../media/image21.png"/><Relationship Id="rId10" Type="http://schemas.openxmlformats.org/officeDocument/2006/relationships/image" Target="../media/image19.png"/><Relationship Id="rId12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4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9" Type="http://schemas.openxmlformats.org/officeDocument/2006/relationships/image" Target="../media/image45.png"/><Relationship Id="rId5" Type="http://schemas.openxmlformats.org/officeDocument/2006/relationships/image" Target="../media/image13.png"/><Relationship Id="rId6" Type="http://schemas.openxmlformats.org/officeDocument/2006/relationships/image" Target="../media/image28.png"/><Relationship Id="rId7" Type="http://schemas.openxmlformats.org/officeDocument/2006/relationships/image" Target="../media/image26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34.png"/><Relationship Id="rId5" Type="http://schemas.openxmlformats.org/officeDocument/2006/relationships/image" Target="../media/image20.png"/><Relationship Id="rId6" Type="http://schemas.openxmlformats.org/officeDocument/2006/relationships/image" Target="../media/image29.png"/><Relationship Id="rId7" Type="http://schemas.openxmlformats.org/officeDocument/2006/relationships/image" Target="../media/image32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30.png"/><Relationship Id="rId5" Type="http://schemas.openxmlformats.org/officeDocument/2006/relationships/image" Target="../media/image44.png"/><Relationship Id="rId6" Type="http://schemas.openxmlformats.org/officeDocument/2006/relationships/image" Target="../media/image25.png"/><Relationship Id="rId7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31.png"/><Relationship Id="rId11" Type="http://schemas.openxmlformats.org/officeDocument/2006/relationships/image" Target="../media/image9.png"/><Relationship Id="rId10" Type="http://schemas.openxmlformats.org/officeDocument/2006/relationships/image" Target="../media/image37.png"/><Relationship Id="rId9" Type="http://schemas.openxmlformats.org/officeDocument/2006/relationships/image" Target="../media/image33.png"/><Relationship Id="rId5" Type="http://schemas.openxmlformats.org/officeDocument/2006/relationships/image" Target="../media/image43.png"/><Relationship Id="rId6" Type="http://schemas.openxmlformats.org/officeDocument/2006/relationships/image" Target="../media/image36.png"/><Relationship Id="rId7" Type="http://schemas.openxmlformats.org/officeDocument/2006/relationships/image" Target="../media/image22.png"/><Relationship Id="rId8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0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4054" y="4756695"/>
            <a:ext cx="2083593" cy="760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1566" y="760214"/>
            <a:ext cx="10468719" cy="5337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99658" y="1341239"/>
            <a:ext cx="992534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1209924" y="2522339"/>
            <a:ext cx="9772002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Intelligent Myopia Prediction System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209924" y="3305175"/>
            <a:ext cx="9772002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5A065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智能近视预测与临床决策支持系统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442591" y="3956595"/>
            <a:ext cx="930666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基于 RAG AI 知识提取与大数据离线预计算架构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900625" y="5128175"/>
            <a:ext cx="253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2025年12月 | 电子科技大学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345162"/>
            <a:ext cx="11049000" cy="5942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41314"/>
            <a:ext cx="3492549" cy="3118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799" y="1941314"/>
            <a:ext cx="3492549" cy="3118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8099" y="1941314"/>
            <a:ext cx="3492549" cy="311809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918418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临床痛点：数据更新与沟通的鸿沟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541264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5619825" y="1541116"/>
            <a:ext cx="952500" cy="19200"/>
          </a:xfrm>
          <a:prstGeom prst="roundRect">
            <a:avLst>
              <a:gd fmla="val 16667" name="adj"/>
            </a:avLst>
          </a:prstGeom>
          <a:solidFill>
            <a:srgbClr val="C5A0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23900" y="5497562"/>
            <a:ext cx="107442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04098"/>
                </a:solidFill>
                <a:latin typeface="Lato"/>
                <a:ea typeface="Lato"/>
                <a:cs typeface="Lato"/>
                <a:sym typeface="Lato"/>
              </a:rPr>
              <a:t>目标：构建一个“既懂最新文献，又能即时反馈”的智能系统。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36700" y="223658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537602" y="3189089"/>
            <a:ext cx="156019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知识更新滞后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3781425"/>
            <a:ext cx="2901999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全球每年发表数千篇近视防控文献，医生难以实时手动更新有效率数据。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23658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315902" y="3189089"/>
            <a:ext cx="156019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医患沟通抽象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645074" y="3781425"/>
            <a:ext cx="2901999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家长难以理解“控制率 50%”的具体含义，缺乏直观的视觉冲击。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93299" y="223658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9094202" y="3189089"/>
            <a:ext cx="156019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个体差异巨大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423374" y="3781425"/>
            <a:ext cx="2901999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相同治疗方案，对不同人种和性别的儿童效果截然不同，人工计算极易出错。</a:t>
            </a:r>
            <a:endParaRPr/>
          </a:p>
        </p:txBody>
      </p:sp>
      <p:pic>
        <p:nvPicPr>
          <p:cNvPr descr="image.png" id="114" name="Google Shape;11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62026" y="2417564"/>
            <a:ext cx="311199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40325" y="2417564"/>
            <a:ext cx="311199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18625" y="2417564"/>
            <a:ext cx="311199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10057" y="285750"/>
            <a:ext cx="496192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3942" y="2469951"/>
            <a:ext cx="3843932" cy="29408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69951"/>
            <a:ext cx="3843932" cy="294084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71500" y="1447055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解决方案核心：双模态架构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2069901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5576900" y="2069903"/>
            <a:ext cx="952500" cy="19200"/>
          </a:xfrm>
          <a:prstGeom prst="roundRect">
            <a:avLst>
              <a:gd fmla="val 16667" name="adj"/>
            </a:avLst>
          </a:prstGeom>
          <a:solidFill>
            <a:srgbClr val="C5A0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2347317" y="2850951"/>
            <a:ext cx="3336041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272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慢思考 (AI Knowledge)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2347317" y="3328987"/>
            <a:ext cx="3177182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利用 LLM/RAG Agent 阅读 PDF 文献。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667500" y="2850951"/>
            <a:ext cx="3336041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272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快直觉 (User App)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667500" y="3328987"/>
            <a:ext cx="3177182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利用 预计算数据工厂 生成本地数据库。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47317" y="2879526"/>
            <a:ext cx="19273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2661642" y="3810863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2728317" y="3808958"/>
            <a:ext cx="2796182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负责“慢工出细活”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2661642" y="4214633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2728317" y="4212728"/>
            <a:ext cx="2796182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提取高精度的医学参数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2661642" y="4618404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2728317" y="4616499"/>
            <a:ext cx="2796182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处理非结构化数据</a:t>
            </a:r>
            <a:endParaRPr/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0" y="2879526"/>
            <a:ext cx="19273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6981825" y="3810863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7048500" y="3808958"/>
            <a:ext cx="2796182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实现用户端的“零延迟”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981825" y="4214633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7048500" y="4212728"/>
            <a:ext cx="2796182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毫秒级响应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981825" y="4618404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7048500" y="4616499"/>
            <a:ext cx="2796182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即时交互体验</a:t>
            </a:r>
            <a:endParaRPr/>
          </a:p>
        </p:txBody>
      </p:sp>
      <p:pic>
        <p:nvPicPr>
          <p:cNvPr descr="image.png" id="146" name="Google Shape;14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10057" y="285750"/>
            <a:ext cx="496192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571500" y="1401365"/>
            <a:ext cx="5200650" cy="97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从文献到屏幕：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1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 全链路数据流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571500" y="2504182"/>
            <a:ext cx="4953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2093100" y="2504173"/>
            <a:ext cx="952500" cy="19200"/>
          </a:xfrm>
          <a:prstGeom prst="roundRect">
            <a:avLst>
              <a:gd fmla="val 16667" name="adj"/>
            </a:avLst>
          </a:prstGeom>
          <a:solidFill>
            <a:srgbClr val="C5A0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571500" y="3056632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Input: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原始医学 PDF 文献输入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571500" y="3536602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AI Process: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RAG 系统提取关键参数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571500" y="4016573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Generator: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裂变生成所有年龄段组合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571500" y="4496544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Database: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生成轻量级 JSON 数据库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571500" y="4976514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前端应用直接读取，无延迟</a:t>
            </a:r>
            <a:endParaRPr/>
          </a:p>
        </p:txBody>
      </p:sp>
      <p:pic>
        <p:nvPicPr>
          <p:cNvPr descr="image.png" id="160" name="Google Shape;16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04257"/>
            <a:ext cx="2857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84227"/>
            <a:ext cx="2857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64198"/>
            <a:ext cx="2857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44169"/>
            <a:ext cx="2857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024139"/>
            <a:ext cx="2857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 title="流程图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20475" y="1235925"/>
            <a:ext cx="8202593" cy="447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3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0875" y="2570550"/>
            <a:ext cx="3929050" cy="23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571500" y="1250602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RAG Agent：不知疲倦的“阅卷专家”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71500" y="1873448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5619750" y="1882975"/>
            <a:ext cx="952500" cy="19200"/>
          </a:xfrm>
          <a:prstGeom prst="roundRect">
            <a:avLst>
              <a:gd fmla="val 16667" name="adj"/>
            </a:avLst>
          </a:prstGeom>
          <a:solidFill>
            <a:srgbClr val="C5A0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571500" y="2273498"/>
            <a:ext cx="5550693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自动化文献阅读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571500" y="2751534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系统能够解析非结构化的 PDF 医疗论文，利用 OpenAI/LlamaIndex 驱动语义理解。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571500" y="3730525"/>
            <a:ext cx="5550693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复杂数据提取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95325" y="418189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762000" y="4179986"/>
            <a:ext cx="509587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人种区分：</a:t>
            </a: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精准提取 Asian vs Caucasian 的数据差异。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95325" y="45856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762000" y="4583757"/>
            <a:ext cx="50958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多维参数：</a:t>
            </a: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自动识别对照组（Control）与治疗组（Treatment）的各种疗效指标。</a:t>
            </a:r>
            <a:endParaRPr/>
          </a:p>
        </p:txBody>
      </p:sp>
      <p:pic>
        <p:nvPicPr>
          <p:cNvPr descr="image.png" id="182" name="Google Shape;18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3381" y="3262163"/>
            <a:ext cx="592782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9079" y="3586013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8461" y="3262163"/>
            <a:ext cx="592782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8003381" y="4214663"/>
            <a:ext cx="1947862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PDF Parsing &amp; Analysis</a:t>
            </a:r>
            <a:endParaRPr/>
          </a:p>
        </p:txBody>
      </p:sp>
      <p:pic>
        <p:nvPicPr>
          <p:cNvPr descr="image.png" id="186" name="Google Shape;18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10057" y="285750"/>
            <a:ext cx="496192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571500" y="1217414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Data Factory：预计算实现零延迟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571500" y="1840259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5619750" y="1840261"/>
            <a:ext cx="952500" cy="19200"/>
          </a:xfrm>
          <a:prstGeom prst="roundRect">
            <a:avLst>
              <a:gd fmla="val 16667" name="adj"/>
            </a:avLst>
          </a:prstGeom>
          <a:solidFill>
            <a:srgbClr val="C5A0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2800350" y="2449859"/>
            <a:ext cx="65913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将即时计算转化为查表操作 (O(1))，避免用户等待 AI 思考。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2990850" y="3451770"/>
            <a:ext cx="18097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4098"/>
                </a:solidFill>
                <a:latin typeface="Merriweather"/>
                <a:ea typeface="Merriweather"/>
                <a:cs typeface="Merriweather"/>
                <a:sym typeface="Merriweather"/>
              </a:rPr>
              <a:t>6-16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2990850" y="4289970"/>
            <a:ext cx="1809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5A065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覆盖年龄段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2990850" y="4756695"/>
            <a:ext cx="1809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涵盖儿童青少年发育关键期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5191125" y="3451770"/>
            <a:ext cx="18097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4098"/>
                </a:solidFill>
                <a:latin typeface="Merriweather"/>
                <a:ea typeface="Merriweather"/>
                <a:cs typeface="Merriweather"/>
                <a:sym typeface="Merriweather"/>
              </a:rPr>
              <a:t>20k+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5191125" y="4289970"/>
            <a:ext cx="1809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5A065"/>
                </a:solidFill>
                <a:latin typeface="Noto Sans SC"/>
                <a:ea typeface="Noto Sans SC"/>
                <a:cs typeface="Noto Sans SC"/>
                <a:sym typeface="Noto Sans SC"/>
              </a:rPr>
              <a:t>预计算曲线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5191125" y="4756695"/>
            <a:ext cx="1809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自动生成完整拟合数据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7391400" y="3451770"/>
            <a:ext cx="18097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4098"/>
                </a:solidFill>
                <a:latin typeface="Merriweather"/>
                <a:ea typeface="Merriweather"/>
                <a:cs typeface="Merriweather"/>
                <a:sym typeface="Merriweather"/>
              </a:rPr>
              <a:t>0ms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7391400" y="4289970"/>
            <a:ext cx="1809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5A065"/>
                </a:solidFill>
                <a:latin typeface="Noto Sans SC"/>
                <a:ea typeface="Noto Sans SC"/>
                <a:cs typeface="Noto Sans SC"/>
                <a:sym typeface="Noto Sans SC"/>
              </a:rPr>
              <a:t>感知延迟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7391400" y="4756695"/>
            <a:ext cx="1809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前端交互极致流畅</a:t>
            </a:r>
            <a:endParaRPr/>
          </a:p>
        </p:txBody>
      </p:sp>
      <p:pic>
        <p:nvPicPr>
          <p:cNvPr descr="image.png" id="205" name="Google Shape;20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0057" y="285750"/>
            <a:ext cx="496192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571500" y="1506140"/>
            <a:ext cx="5200650" cy="97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IMPS 客户端：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1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 所见即所得的预测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571500" y="2608957"/>
            <a:ext cx="4953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2607450" y="2608948"/>
            <a:ext cx="952500" cy="19200"/>
          </a:xfrm>
          <a:prstGeom prst="roundRect">
            <a:avLst>
              <a:gd fmla="val 16667" name="adj"/>
            </a:avLst>
          </a:prstGeom>
          <a:solidFill>
            <a:srgbClr val="C5A0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571500" y="3009007"/>
            <a:ext cx="520065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310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可视化对比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571500" y="3308002"/>
            <a:ext cx="4953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红色（自然增长）vs 绿色（干预后）曲线一目了然。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571500" y="3789908"/>
            <a:ext cx="520065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310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实时交互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571500" y="4088903"/>
            <a:ext cx="4953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拖动滑块，曲线毫秒级同步变化。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571500" y="4570809"/>
            <a:ext cx="520065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310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个性化配置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571500" y="4869805"/>
            <a:ext cx="4953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右上角开关支持切换不同的人种和性别数据。</a:t>
            </a:r>
            <a:endParaRPr/>
          </a:p>
        </p:txBody>
      </p:sp>
      <p:pic>
        <p:nvPicPr>
          <p:cNvPr descr="image.png" id="220" name="Google Shape;22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28057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08958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89859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title="系统界面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35403" y="1191525"/>
            <a:ext cx="6380300" cy="441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7009"/>
            <a:ext cx="3492549" cy="2866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07009"/>
            <a:ext cx="3492549" cy="2866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07009"/>
            <a:ext cx="3492549" cy="286672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571500" y="1484114"/>
            <a:ext cx="11601450" cy="49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系统核心价值总结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571500" y="2106959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5619675" y="2087911"/>
            <a:ext cx="952500" cy="19200"/>
          </a:xfrm>
          <a:prstGeom prst="roundRect">
            <a:avLst>
              <a:gd fmla="val 16667" name="adj"/>
            </a:avLst>
          </a:prstGeom>
          <a:solidFill>
            <a:srgbClr val="C5A0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5" name="Google Shape;23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80228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1226935" y="3754784"/>
            <a:ext cx="2181678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科学性 (Scientific)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866775" y="4347120"/>
            <a:ext cx="2901999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数据源于权威文献，拒绝“黑盒”猜测，确保医疗建议的严谨性。</a:t>
            </a:r>
            <a:endParaRPr/>
          </a:p>
        </p:txBody>
      </p:sp>
      <p:pic>
        <p:nvPicPr>
          <p:cNvPr descr="image.png" id="238" name="Google Shape;23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0" y="280228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5070399" y="3754784"/>
            <a:ext cx="205135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高效性 (Efficient)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4645074" y="4347120"/>
            <a:ext cx="2901999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预计算架构带来极致流畅的交互体验，完美适配门诊快节奏场景。</a:t>
            </a:r>
            <a:endParaRPr/>
          </a:p>
        </p:txBody>
      </p:sp>
      <p:pic>
        <p:nvPicPr>
          <p:cNvPr descr="image.png" id="241" name="Google Shape;24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93299" y="280228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 txBox="1"/>
          <p:nvPr/>
        </p:nvSpPr>
        <p:spPr>
          <a:xfrm>
            <a:off x="8776189" y="3754784"/>
            <a:ext cx="2196368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4098"/>
                </a:solidFill>
                <a:latin typeface="Noto Sans SC"/>
                <a:ea typeface="Noto Sans SC"/>
                <a:cs typeface="Noto Sans SC"/>
                <a:sym typeface="Noto Sans SC"/>
              </a:rPr>
              <a:t>通用性 (Universal)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8423374" y="4347120"/>
            <a:ext cx="2901999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标准化 JSON 数据格式，轻松适配 Web、Pad、Desktop 等多端设备。</a:t>
            </a:r>
            <a:endParaRPr/>
          </a:p>
        </p:txBody>
      </p:sp>
      <p:pic>
        <p:nvPicPr>
          <p:cNvPr descr="image.png" id="244" name="Google Shape;24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62026" y="2983259"/>
            <a:ext cx="311199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40325" y="2983259"/>
            <a:ext cx="311199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18625" y="2983259"/>
            <a:ext cx="311199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410057" y="285750"/>
            <a:ext cx="496192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098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6225" y="1187797"/>
            <a:ext cx="4019550" cy="4482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0389" y="1768822"/>
            <a:ext cx="1191071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4595812" y="3235672"/>
            <a:ext cx="300037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4595812" y="4018508"/>
            <a:ext cx="3000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5A065"/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4667250" y="4669928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智能近视预测与临床决策支持系统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